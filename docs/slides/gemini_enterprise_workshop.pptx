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63001" y="1136600"/>
            <a:ext cx="641799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Enterprise Workshop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744362" y="1812875"/>
            <a:ext cx="16551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 Retail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91000" y="2489150"/>
            <a:ext cx="762000" cy="5075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65848" y="29209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94299" y="29209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22750" y="29209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BB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1202" y="29209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1571" y="3581251"/>
            <a:ext cx="2142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 Store Operations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2462" y="3905101"/>
            <a:ext cx="3630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| Gemini Enterprise (Discovery Engine API)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77677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</a:t>
            </a:r>
            <a:pPr algn="l" indent="0" marL="0"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pPr algn="l" indent="0" marL="0">
              <a:spcAft>
                <a:spcPts val="18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Regional Merchandising Manager. She's planning a seasonal endcap promotion and needs 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25377"/>
            <a:ext cx="8128099" cy="202063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strategy before rollout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simulate shopper behavior and estimate ROI across 3 stores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brand compliance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verify the promotion follows brand guidelines exactly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marketing materials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create product imagery that matches brand standards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historical data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understand which products drive revenue in each store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customer data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ensure loyalty tier analytics don't expose PII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strategy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let other teams discover and reuse her simulation agent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Gemini Enterprise Brings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14127"/>
            <a:ext cx="8290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Table Placeholder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114127"/>
          <a:ext cx="8127950" cy="393695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017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Sarah's Use Case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Shopper Simulator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AI-powered A/B testing of store layouts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Test endcap before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Discovery Engine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Enterprise search over SOPs and docs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Brand guideline compliance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 Engine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Multi-agent AI orchestration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Route analytics, search, image gen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BigQuery + MCP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Natural language data analytics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Sales trends by store/product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Gemini 3 Pro Image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Brand-compliant product imagery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Marketing visuals for endcap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Memory Bank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Cross-session user memory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Remember store preferences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Model Armor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Content safety and PII protection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Protect loyalty 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A2A Protocol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Agent-to-agent communication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Cross-team simulator reuse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ADK Evaluation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 testing and simulation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378 automated tests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57101"/>
            <a:ext cx="3962400" cy="52953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857101"/>
            <a:ext cx="0" cy="52953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551" y="933301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7551" y="1123801"/>
            <a:ext cx="37957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Web UI with StreamAssist, Agent Engine, and Voice Ops tabs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462832"/>
            <a:ext cx="3962400" cy="67806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462832"/>
            <a:ext cx="0" cy="678061"/>
          </a:xfrm>
          <a:prstGeom prst="line">
            <a:avLst/>
          </a:prstGeom>
          <a:noFill/>
          <a:ln w="38100">
            <a:solidFill>
              <a:srgbClr val="3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551" y="1539032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551" y="1729532"/>
            <a:ext cx="379572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multi-agent with Gemini 3 Pro/Flash. Root agent orchestrates analytics, image, simulator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217093"/>
            <a:ext cx="3962400" cy="67806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217093"/>
            <a:ext cx="0" cy="678061"/>
          </a:xfrm>
          <a:prstGeom prst="line">
            <a:avLst/>
          </a:prstGeom>
          <a:noFill/>
          <a:ln w="38100">
            <a:solidFill>
              <a:srgbClr val="FBBC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551" y="2293293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Retrieval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7551" y="2483793"/>
            <a:ext cx="379572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Engine with SOP and brand guidelines data stores. Model Armor safety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2971354"/>
            <a:ext cx="3962400" cy="52953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2971354"/>
            <a:ext cx="0" cy="529530"/>
          </a:xfrm>
          <a:prstGeom prst="line">
            <a:avLst/>
          </a:prstGeom>
          <a:noFill/>
          <a:ln w="38100">
            <a:solidFill>
              <a:srgbClr val="EA43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551" y="3047554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551" y="3238054"/>
            <a:ext cx="37957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star schema (12K+), GCS docs, Memory Bank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857101"/>
            <a:ext cx="40418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 with Google Cloud services for a complete agentic AI platform.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73501" y="1192262"/>
            <a:ext cx="40418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 automated tests validate the full stack. Config-driven design: switch retailers by changing one YAML file.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73501" y="1527423"/>
            <a:ext cx="40418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73501" y="1714054"/>
            <a:ext cx="3962549" cy="4506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gemini-3-pro-preview (orchestration)</a:t>
            </a:r>
            <a:endParaRPr lang="en-US" sz="9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gemini-3-flash-preview (sub-agents)</a:t>
            </a:r>
            <a:endParaRPr lang="en-US" sz="9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gemini-3-pro-image-preview (images)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0651"/>
          </a:xfrm>
          <a:prstGeom prst="rect">
            <a:avLst/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1: Simulate Before You Spend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6510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 Simulator — AI-Powered A/B Testing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047601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World-Model Simulation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358652"/>
            <a:ext cx="3937099" cy="13445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shopper personas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budget families, health enthusiasts, quick-stop shoppers, weekend cooks, elderly regulars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store layouts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Downtown, Westside, and Lakefront Market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sub-agents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each persona walks aisles and builds a cart independently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merchandising scenarios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baseline, seasonal produce, snack impulse, health wellness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766566"/>
            <a:ext cx="3937099" cy="685502"/>
          </a:xfrm>
          <a:prstGeom prst="roundRect">
            <a:avLst>
              <a:gd name="adj" fmla="val 1111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2110" y="2868067"/>
            <a:ext cx="38087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2110" y="3217218"/>
            <a:ext cx="38087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Shopper Personas</a:t>
            </a:r>
            <a:endParaRPr lang="en-US" sz="900" dirty="0"/>
          </a:p>
        </p:txBody>
      </p:sp>
      <p:pic>
        <p:nvPicPr>
          <p:cNvPr id="10" name="Image 0" descr="/usr/local/google/home/jwortz/ge_grocery_store/docs/img/24_frontend_simulator_pers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50" y="1774329"/>
            <a:ext cx="3301901" cy="2515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1: A/B Test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 Simulator — Actionable Insights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Metrics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8498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Endcap conversion rates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persona and store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revenue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projections from promotional placement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calculations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comparing investment vs. projected lift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recommendation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confidence intervals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383036"/>
            <a:ext cx="1227683" cy="742801"/>
          </a:xfrm>
          <a:prstGeom prst="roundRect">
            <a:avLst>
              <a:gd name="adj" fmla="val 102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2402086"/>
            <a:ext cx="1227683" cy="0"/>
          </a:xfrm>
          <a:prstGeom prst="line">
            <a:avLst/>
          </a:prstGeom>
          <a:noFill/>
          <a:ln w="38100">
            <a:solidFill>
              <a:srgbClr val="3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163" y="2548086"/>
            <a:ext cx="9932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5163" y="2865537"/>
            <a:ext cx="993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Lift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62584" y="2383036"/>
            <a:ext cx="1227832" cy="742801"/>
          </a:xfrm>
          <a:prstGeom prst="roundRect">
            <a:avLst>
              <a:gd name="adj" fmla="val 102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862584" y="2402086"/>
            <a:ext cx="1227832" cy="0"/>
          </a:xfrm>
          <a:prstGeom prst="line">
            <a:avLst/>
          </a:prstGeom>
          <a:noFill/>
          <a:ln w="381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9795" y="2548086"/>
            <a:ext cx="993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79795" y="2865537"/>
            <a:ext cx="993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Endcap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17366" y="2383036"/>
            <a:ext cx="1227683" cy="742801"/>
          </a:xfrm>
          <a:prstGeom prst="roundRect">
            <a:avLst>
              <a:gd name="adj" fmla="val 102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17366" y="2402086"/>
            <a:ext cx="1227683" cy="0"/>
          </a:xfrm>
          <a:prstGeom prst="line">
            <a:avLst/>
          </a:prstGeom>
          <a:noFill/>
          <a:ln w="3810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4579" y="2548086"/>
            <a:ext cx="9932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4579" y="2865537"/>
            <a:ext cx="993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900" dirty="0"/>
          </a:p>
        </p:txBody>
      </p:sp>
      <p:pic>
        <p:nvPicPr>
          <p:cNvPr id="19" name="Image 0" descr="/usr/local/google/home/jwortz/ge_grocery_store/docs/img/26_frontend_simulator_ab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295" y="1777901"/>
            <a:ext cx="3186410" cy="2539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2: Brand Compliance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Engine Search — Grounded Enterprise 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Search over Documents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150941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GCS-backed PDFs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SOPs and brand guidelines indexed automatically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responses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document citations and page references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Multi-document grounding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SOP and brand guidelines data stores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StreamAssist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provides conversational search with session 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3042642"/>
            <a:ext cx="3937099" cy="60960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3195042"/>
            <a:ext cx="3704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Stores:</a:t>
            </a:r>
            <a:pPr algn="l"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sop-store (closing/opening procedures, safety) + brand-guidelines-store (colors, typography, tone)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3753743"/>
            <a:ext cx="3937099" cy="60960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350" y="3906143"/>
            <a:ext cx="3704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Tier:</a:t>
            </a:r>
            <a:pPr algn="l"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SEARCH_TIER_ENTERPRISE with global location</a:t>
            </a:r>
            <a:endParaRPr lang="en-US" sz="1100" dirty="0"/>
          </a:p>
        </p:txBody>
      </p:sp>
      <p:pic>
        <p:nvPicPr>
          <p:cNvPr id="11" name="Image 0" descr="/usr/local/google/home/jwortz/ge_grocery_store/docs/img/30_frontend_streamassist_brand_col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120" y="1777901"/>
            <a:ext cx="2938611" cy="2539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2: Image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 Image — Brand-Compliant Product Imagery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Image Generation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12430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gemini-3-pro-image-preview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for native image output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palette enforcement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green, gold, and white color scheme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rendering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images display directly in the chat interface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storage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generated images saved and served via proxy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routing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root agent transfers to image_agent sub-agent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865239"/>
            <a:ext cx="507950" cy="507950"/>
          </a:xfrm>
          <a:prstGeom prst="roundRect">
            <a:avLst>
              <a:gd name="adj" fmla="val 1000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17402" y="2865239"/>
            <a:ext cx="507950" cy="507950"/>
          </a:xfrm>
          <a:prstGeom prst="roundRect">
            <a:avLst>
              <a:gd name="adj" fmla="val 10001"/>
            </a:avLst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26853" y="2865239"/>
            <a:ext cx="527000" cy="52700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3544639"/>
            <a:ext cx="4015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color palette</a:t>
            </a:r>
            <a:endParaRPr lang="en-US" sz="1200" dirty="0"/>
          </a:p>
        </p:txBody>
      </p:sp>
      <p:pic>
        <p:nvPicPr>
          <p:cNvPr id="11" name="Image 0" descr="/usr/local/google/home/jwortz/ge_grocery_store/docs/img/28_frontend_image_gen_ban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698" y="1777901"/>
            <a:ext cx="2831455" cy="2539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FBB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3: BigQuery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3C4043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Insights Agent — Natural Language to SQL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Analytics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101471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12K-row star schema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fact_transactions with 4 dimension tables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SQL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SQL knowledge required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visualizations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bar, pie, line charts rendered inline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analytics_agent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sub-agent (Gemini 3 Flash) handles all queries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611487"/>
            <a:ext cx="3937099" cy="682526"/>
          </a:xfrm>
          <a:prstGeom prst="roundRect">
            <a:avLst>
              <a:gd name="adj" fmla="val 11164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2738438"/>
            <a:ext cx="3756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fact_transactions (12K rows)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2881313"/>
            <a:ext cx="3756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dim_store (3) | dim_product (20)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4901" y="3024188"/>
            <a:ext cx="3756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dim_employee (15) | dim_customer (40)</a:t>
            </a:r>
            <a:endParaRPr lang="en-US" sz="1000" dirty="0"/>
          </a:p>
        </p:txBody>
      </p:sp>
      <p:pic>
        <p:nvPicPr>
          <p:cNvPr id="11" name="Image 0" descr="/usr/local/google/home/jwortz/ge_grocery_store/docs/img/22_frontend_adk_top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683" y="1777901"/>
            <a:ext cx="2789486" cy="2539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FBB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3: MCP Toolbox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3C4043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Agent — Arbitrary SQL via MCP for Databases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BigQuery Tools via MCP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140806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execute_sql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generates arbitrary SQL (not pattern-matched)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list_table_ids / get_table_info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schema discovery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time series forecasting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analyze_contribution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metric contribution analysis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ask_data_insights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AI-powered data analysis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search_catalog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find tables, views,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3004840"/>
            <a:ext cx="1917799" cy="656927"/>
          </a:xfrm>
          <a:prstGeom prst="roundRect">
            <a:avLst>
              <a:gd name="adj" fmla="val 115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2303" y="3106341"/>
            <a:ext cx="174909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2303" y="3426916"/>
            <a:ext cx="17490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(ADK Agent)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27250" y="3004840"/>
            <a:ext cx="1917799" cy="656927"/>
          </a:xfrm>
          <a:prstGeom prst="roundRect">
            <a:avLst>
              <a:gd name="adj" fmla="val 115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11603" y="3106341"/>
            <a:ext cx="174909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11603" y="3426916"/>
            <a:ext cx="17490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(MCP Agent)</a:t>
            </a:r>
            <a:endParaRPr lang="en-US" sz="900" dirty="0"/>
          </a:p>
        </p:txBody>
      </p:sp>
      <p:pic>
        <p:nvPicPr>
          <p:cNvPr id="13" name="Image 0" descr="/usr/local/google/home/jwortz/ge_grocery_store/docs/img/23_frontend_mcp_top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0159" y="1777901"/>
            <a:ext cx="2694682" cy="2539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4: Model Armor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 Filters — Enterprise-Grade Protection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Filters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507802"/>
          </a:xfrm>
          <a:prstGeom prst="roundRect">
            <a:avLst>
              <a:gd name="adj" fmla="val 15006"/>
            </a:avLst>
          </a:prstGeom>
          <a:solidFill>
            <a:srgbClr val="FB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672977"/>
            <a:ext cx="72628" cy="101501"/>
          </a:xfrm>
          <a:prstGeom prst="roundRect">
            <a:avLst>
              <a:gd name="adj" fmla="val 1259019"/>
            </a:avLst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9929" y="1571327"/>
            <a:ext cx="350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 Harm Filter</a:t>
            </a:r>
            <a:pPr algn="l"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hate speech, violence, sexual content, dangerous content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104579"/>
            <a:ext cx="3937099" cy="507802"/>
          </a:xfrm>
          <a:prstGeom prst="roundRect">
            <a:avLst>
              <a:gd name="adj" fmla="val 15006"/>
            </a:avLst>
          </a:prstGeom>
          <a:solidFill>
            <a:srgbClr val="FB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350" y="2307729"/>
            <a:ext cx="85725" cy="101501"/>
          </a:xfrm>
          <a:prstGeom prst="roundRect">
            <a:avLst>
              <a:gd name="adj" fmla="val 1066667"/>
            </a:avLst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3026" y="2206079"/>
            <a:ext cx="34880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and Jailbreak Filter</a:t>
            </a:r>
            <a:pPr algn="l"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prompt injection and jailbreak attempts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739330"/>
            <a:ext cx="3937099" cy="507802"/>
          </a:xfrm>
          <a:prstGeom prst="roundRect">
            <a:avLst>
              <a:gd name="adj" fmla="val 15006"/>
            </a:avLst>
          </a:prstGeom>
          <a:solidFill>
            <a:srgbClr val="FB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2942481"/>
            <a:ext cx="83641" cy="101501"/>
          </a:xfrm>
          <a:prstGeom prst="roundRect">
            <a:avLst>
              <a:gd name="adj" fmla="val 1093244"/>
            </a:avLst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0942" y="2840831"/>
            <a:ext cx="34901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SDP Basic Filter</a:t>
            </a:r>
            <a:pPr algn="l"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PII detection (names, emails, phone numbers)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3374082"/>
            <a:ext cx="3937099" cy="507802"/>
          </a:xfrm>
          <a:prstGeom prst="roundRect">
            <a:avLst>
              <a:gd name="adj" fmla="val 15006"/>
            </a:avLst>
          </a:prstGeom>
          <a:solidFill>
            <a:srgbClr val="FBE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0350" y="3577233"/>
            <a:ext cx="80963" cy="101501"/>
          </a:xfrm>
          <a:prstGeom prst="roundRect">
            <a:avLst>
              <a:gd name="adj" fmla="val 1129405"/>
            </a:avLst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8263" y="3475583"/>
            <a:ext cx="34928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URI Filter</a:t>
            </a:r>
            <a:pPr algn="l"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blocks malicious URLs in prompts/responses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50" y="4034284"/>
            <a:ext cx="3937099" cy="7111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31763" y="4034284"/>
            <a:ext cx="0" cy="711101"/>
          </a:xfrm>
          <a:prstGeom prst="line">
            <a:avLst/>
          </a:prstGeom>
          <a:noFill/>
          <a:ln w="47625">
            <a:solidFill>
              <a:srgbClr val="EA43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975" y="4161234"/>
            <a:ext cx="3656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Mode: FAIL_OPEN</a:t>
            </a:r>
            <a:pPr algn="l"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if Model Armor is unavailable, queries pass through to avoid blocking production</a:t>
            </a:r>
            <a:endParaRPr lang="en-US" sz="1100" dirty="0"/>
          </a:p>
        </p:txBody>
      </p:sp>
      <p:pic>
        <p:nvPicPr>
          <p:cNvPr id="21" name="Image 0" descr="/usr/local/google/home/jwortz/ge_grocery_store/docs/img/15_gcp_model_armor_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714" y="1777901"/>
            <a:ext cx="2289572" cy="2539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82427"/>
          </a:xfrm>
          <a:prstGeom prst="rect">
            <a:avLst/>
          </a:prstGeom>
          <a:solidFill>
            <a:srgbClr val="EA43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4: ADK Evaluation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65707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— Quality Assurance at Scale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336328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764953"/>
            <a:ext cx="2582317" cy="1114425"/>
          </a:xfrm>
          <a:prstGeom prst="roundRect">
            <a:avLst>
              <a:gd name="adj" fmla="val 6838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784003"/>
            <a:ext cx="2582317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437" y="1993553"/>
            <a:ext cx="22453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76437" y="2536478"/>
            <a:ext cx="2245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80767" y="1764953"/>
            <a:ext cx="2582466" cy="1114425"/>
          </a:xfrm>
          <a:prstGeom prst="roundRect">
            <a:avLst>
              <a:gd name="adj" fmla="val 683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0767" y="1784003"/>
            <a:ext cx="2582466" cy="0"/>
          </a:xfrm>
          <a:prstGeom prst="line">
            <a:avLst/>
          </a:prstGeom>
          <a:noFill/>
          <a:ln w="38100">
            <a:solidFill>
              <a:srgbClr val="3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9253" y="1993553"/>
            <a:ext cx="22454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49253" y="2536478"/>
            <a:ext cx="2245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733" y="1764953"/>
            <a:ext cx="2582317" cy="1114425"/>
          </a:xfrm>
          <a:prstGeom prst="roundRect">
            <a:avLst>
              <a:gd name="adj" fmla="val 6838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53733" y="1784003"/>
            <a:ext cx="2582317" cy="0"/>
          </a:xfrm>
          <a:prstGeom prst="line">
            <a:avLst/>
          </a:prstGeom>
          <a:noFill/>
          <a:ln w="38100">
            <a:solidFill>
              <a:srgbClr val="9C2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2220" y="1993553"/>
            <a:ext cx="22453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22220" y="2536478"/>
            <a:ext cx="2245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50" y="3133279"/>
            <a:ext cx="8128099" cy="115758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simulation</a:t>
            </a:r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ADK eval framework with synthetic user scenarios</a:t>
            </a:r>
            <a:endParaRPr lang="en-US" sz="1200" dirty="0"/>
          </a:p>
          <a:p>
            <a:pPr algn="l" marL="127000" indent="-1270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trajectory validation</a:t>
            </a:r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verify correct tool calls in sequence</a:t>
            </a:r>
            <a:endParaRPr lang="en-US" sz="1200" dirty="0"/>
          </a:p>
          <a:p>
            <a:pPr algn="l" marL="127000" indent="-1270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</a:t>
            </a:r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ensure grounded responses from Discovery Engine</a:t>
            </a:r>
            <a:endParaRPr lang="en-US" sz="1200" dirty="0"/>
          </a:p>
          <a:p>
            <a:pPr algn="l" marL="127000" indent="-1270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</a:t>
            </a:r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GitHub Actions runs unit tests on every push/PR (Python 3.10-3.12)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3C40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5: A2A Protocol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Discovery and Composability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Communication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13445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AgentCard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machine-readable capabilities at a well-known endpoint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protocol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any agent can discover and invoke capabilities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deployment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auto-scaling A2A endpoint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Cross-team reuse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marketing can use Sarah's simulator directly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877741"/>
            <a:ext cx="3937099" cy="345877"/>
          </a:xfrm>
          <a:prstGeom prst="roundRect">
            <a:avLst>
              <a:gd name="adj" fmla="val 220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979241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/.well-known/agent.json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3325118"/>
            <a:ext cx="3937099" cy="345877"/>
          </a:xfrm>
          <a:prstGeom prst="roundRect">
            <a:avLst>
              <a:gd name="adj" fmla="val 220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350" y="3426619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/a2a</a:t>
            </a:r>
            <a:endParaRPr lang="en-US" sz="1000" dirty="0"/>
          </a:p>
        </p:txBody>
      </p:sp>
      <p:pic>
        <p:nvPicPr>
          <p:cNvPr id="11" name="Image 0" descr="/usr/local/google/home/jwortz/ge_grocery_store/docs/img/20_frontend_a2a_agent_swi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8804" y="1777901"/>
            <a:ext cx="2477244" cy="2539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0651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6: Business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6510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— The Platform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022152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Sarah's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384102"/>
            <a:ext cx="8290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Table Placeholder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384102"/>
          <a:ext cx="8127950" cy="34290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Before (Manual)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After (AI-Powered)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Strategy testing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2-3 weeks per test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Minutes per simulation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SOP lookup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 min (paper binders)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 seconds (grounded search)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Brand compliance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 review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Automated verification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Analytics access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Requires analyst / SQL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Self-service natural language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Content safety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Application-level checks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Infrastructure-level (Model Armor)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Cross-team reuse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Email / meetings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A2A agent discovery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2351"/>
          </a:xfrm>
          <a:prstGeom prst="rect">
            <a:avLst/>
          </a:prstGeom>
          <a:solidFill>
            <a:srgbClr val="3C40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Engine Console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7775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Agents — Vertex AI Agent Engine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Production Agents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69827"/>
            <a:ext cx="39370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469827"/>
            <a:ext cx="0" cy="584002"/>
          </a:xfrm>
          <a:prstGeom prst="line">
            <a:avLst/>
          </a:prstGeom>
          <a:noFill/>
          <a:ln w="47625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7975" y="1596777"/>
            <a:ext cx="3656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 Retail Assistant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7975" y="1793528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Engine | 3727910666648944640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155329"/>
            <a:ext cx="39370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1763" y="2155329"/>
            <a:ext cx="0" cy="584002"/>
          </a:xfrm>
          <a:prstGeom prst="line">
            <a:avLst/>
          </a:prstGeom>
          <a:noFill/>
          <a:ln w="47625">
            <a:solidFill>
              <a:srgbClr val="3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7975" y="2282279"/>
            <a:ext cx="3656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Grocery Analyst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7975" y="2479030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Engine | 5787744546217525248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840831"/>
            <a:ext cx="39370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1763" y="2840831"/>
            <a:ext cx="0" cy="584002"/>
          </a:xfrm>
          <a:prstGeom prst="line">
            <a:avLst/>
          </a:prstGeom>
          <a:noFill/>
          <a:ln w="47625">
            <a:solidFill>
              <a:srgbClr val="FBBC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975" y="2967782"/>
            <a:ext cx="3656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 Simulator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7975" y="3164532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Engine | 7053256041508634624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3526334"/>
            <a:ext cx="39370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31763" y="3526334"/>
            <a:ext cx="0" cy="584002"/>
          </a:xfrm>
          <a:prstGeom prst="line">
            <a:avLst/>
          </a:prstGeom>
          <a:noFill/>
          <a:ln w="47625">
            <a:solidFill>
              <a:srgbClr val="EA43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975" y="3653284"/>
            <a:ext cx="3656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7975" y="3850035"/>
            <a:ext cx="3656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Run | grocery-a2a-agent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4262735"/>
            <a:ext cx="4015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agents have OTel tracing enabled for Cloud Trace observability</a:t>
            </a:r>
            <a:endParaRPr lang="en-US" sz="1200" dirty="0"/>
          </a:p>
        </p:txBody>
      </p:sp>
      <p:pic>
        <p:nvPicPr>
          <p:cNvPr id="23" name="Image 0" descr="/usr/local/google/home/jwortz/ge_grocery_store/docs/img/10_gcp_agent_engine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50" y="2569220"/>
            <a:ext cx="3301901" cy="9571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0651"/>
          </a:xfrm>
          <a:prstGeom prst="rect">
            <a:avLst/>
          </a:prstGeom>
          <a:solidFill>
            <a:srgbClr val="3C40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56510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Trace + Sessions + Memory Bank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047601"/>
            <a:ext cx="40416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384102"/>
            <a:ext cx="3962400" cy="8118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tracing on all agents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deeplinks from chat UI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and tool-count metrics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Span-level agent call 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297460"/>
            <a:ext cx="3981450" cy="1543050"/>
          </a:xfrm>
          <a:prstGeom prst="roundRect">
            <a:avLst>
              <a:gd name="adj" fmla="val 4938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r/local/google/home/jwortz/ge_grocery_store/docs/img/12_gcp_cloud_trac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305" y="2306985"/>
            <a:ext cx="2496592" cy="15238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3501" y="1047601"/>
            <a:ext cx="404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73501" y="1384102"/>
            <a:ext cx="3962549" cy="8118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scoped memories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persistence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PreloadMemoryTool on each turn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tooltip shows count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73501" y="2297460"/>
            <a:ext cx="3981599" cy="1543050"/>
          </a:xfrm>
          <a:prstGeom prst="roundRect">
            <a:avLst>
              <a:gd name="adj" fmla="val 4938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r/local/google/home/jwortz/ge_grocery_store/docs/img/14_gcp_agent_engine_memory_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943" y="2306985"/>
            <a:ext cx="3090714" cy="15238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1412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427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7934" y="160942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150" y="1542752"/>
            <a:ext cx="1787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5150" y="1739503"/>
            <a:ext cx="1787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".[dev]"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03477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7934" y="210145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5150" y="2034778"/>
            <a:ext cx="6760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unit tests</a:t>
            </a:r>
            <a:pPr algn="l"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GCP credentials needed)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5150" y="2231529"/>
            <a:ext cx="67604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tests/test_agent.py tests/test_mcp_agent.py tests/test_a2a_agent.py -v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2680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934" y="2593479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5150" y="2526804"/>
            <a:ext cx="5206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 Discovery Engine</a:t>
            </a:r>
            <a:pPr algn="l"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data stores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5150" y="2723555"/>
            <a:ext cx="520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infra/provision_engine.sh &amp;&amp; bash infra/provision_datastore.sh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01883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7934" y="308550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5150" y="3018830"/>
            <a:ext cx="4817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agents</a:t>
            </a:r>
            <a:pPr algn="l" indent="0" marL="0"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Agent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5150" y="3215580"/>
            <a:ext cx="4817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src &amp;&amp; adk deploy agent_engine --project=YOUR_PROJECT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351085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7934" y="357753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5150" y="3510855"/>
            <a:ext cx="3574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frontend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5150" y="3707606"/>
            <a:ext cx="35745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src.frontend    # http://localhost:8080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77677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Scoping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606302"/>
            <a:ext cx="3873550" cy="208701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deep-dive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walk through the architecture documentation with your engineering team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your problem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find your equivalent of Sarah's endcap challenge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update config/settings.yaml with your retailer name and branding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provision resources in your own GCP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1177677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0" y="16063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Guide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docs/workshop_guide.md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62500" y="18349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docs/architecture.md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62500" y="20635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Guide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docs/setup.md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62500" y="22921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Guide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docs/evaluation_guide.md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2500" y="2635002"/>
            <a:ext cx="3873550" cy="876300"/>
          </a:xfrm>
          <a:prstGeom prst="roundRect">
            <a:avLst>
              <a:gd name="adj" fmla="val 8696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8075" y="2825502"/>
            <a:ext cx="3562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18075" y="3168402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Enterprise | Agent Engine | ADK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Enterprise Workshop: Grocery Retail</dc:title>
  <dc:subject>Agentic AI for Store Operations</dc:subject>
  <dc:creator>Google Cloud</dc:creator>
  <cp:lastModifiedBy>Google Cloud</cp:lastModifiedBy>
  <cp:revision>1</cp:revision>
  <dcterms:created xsi:type="dcterms:W3CDTF">2026-02-18T18:21:44Z</dcterms:created>
  <dcterms:modified xsi:type="dcterms:W3CDTF">2026-02-18T18:21:44Z</dcterms:modified>
</cp:coreProperties>
</file>